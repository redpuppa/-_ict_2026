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RSSI (dBm)</c:v>
                </c:pt>
              </c:strCache>
            </c:strRef>
          </c:tx>
          <c:spPr>
            <a:solidFill>
              <a:srgbClr val="0087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23D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바로 옆</c:v>
                  </c:pt>
                  <c:pt idx="1">
                    <c:v>같은 방</c:v>
                  </c:pt>
                  <c:pt idx="2">
                    <c:v>옆 방</c:v>
                  </c:pt>
                  <c:pt idx="3">
                    <c:v>다른 층</c:v>
                  </c:pt>
                  <c:pt idx="4">
                    <c:v>집 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-38</c:v>
                </c:pt>
                <c:pt idx="1">
                  <c:v>-52</c:v>
                </c:pt>
                <c:pt idx="2">
                  <c:v>-67</c:v>
                </c:pt>
                <c:pt idx="3">
                  <c:v>-78</c:v>
                </c:pt>
                <c:pt idx="4">
                  <c:v>-88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323D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859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13384A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457200"/>
            <a:ext cx="2194560" cy="2194560"/>
          </a:xfrm>
          <a:prstGeom prst="ellipse">
            <a:avLst/>
          </a:prstGeom>
          <a:solidFill>
            <a:srgbClr val="18435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B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ARDUINO UNO R4 WiFi · 강의 시리즈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0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BFE3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보드의 이해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58368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RA4M1 + ESP32-S3 듀얼 칩 구조 · 12×8 LED 매트릭스 · 개발환경 셋업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7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강사용 · 학생용 통합 강의자료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0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모듈에서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82496"/>
            <a:ext cx="457200" cy="457200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805940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27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 칩 구조 이해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840480" y="16276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RA4M1(메인)과 ESP32-S3(무선)의 역할 분담을 설명할 수 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523744"/>
            <a:ext cx="457200" cy="457200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6471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68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 → R4 변화 파악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840480" y="24688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MCU 전환과 새로워진 주변장치를 구분할 수 있다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36976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364992"/>
            <a:ext cx="457200" cy="457200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48843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310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 구성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3840480" y="33101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매니저 설치부터 첫 업로드까지 수행할 수 있다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078224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206240"/>
            <a:ext cx="457200" cy="457200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432968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1513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매트릭스 첫 실습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3840480" y="41513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12×8 매트릭스에 그래픽을 출력할 수 있다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0 · WHY R4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클래식 UNO(R3)와 무엇이 다른가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Arm Cortex-M4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10128" y="137160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46304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MHz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10128" y="199339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클럭 (R3의 3배)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71616" y="137160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71616" y="146304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B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WiFi+BLE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71616" y="199339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 내장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78608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566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UNO R3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UNO R4 WiFi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ATmega328P (8-bit)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RA4M1 (32-bit) + ESP32-S3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 MHz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 MHz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플래시 / RAM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 KB / 2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KB / 32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ADC 분해능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10-bit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14-bit + DAC 내장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WiFi 2.4GHz · Bluetooth LE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특이사항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GPIO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12×8 LED 매트릭스 · Qwiic · RTC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0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 칩 아키텍처</a:t>
            </a:r>
            <a:endParaRPr lang="en-US" sz="3000" dirty="0"/>
          </a:p>
        </p:txBody>
      </p:sp>
      <p:pic>
        <p:nvPicPr>
          <p:cNvPr id="4" name="Image 0" descr="image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532120" cy="31912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9632" y="1508760"/>
            <a:ext cx="2395728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1673352"/>
            <a:ext cx="146304" cy="146304"/>
          </a:xfrm>
          <a:prstGeom prst="ellipse">
            <a:avLst/>
          </a:prstGeom>
          <a:solidFill>
            <a:srgbClr val="00878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RA4M1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55080" y="189280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스케치(setup/loop)가 실제로 실행되는 메인 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2569464"/>
            <a:ext cx="2395728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734056"/>
            <a:ext cx="146304" cy="146304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660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ESP32-S3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55080" y="29535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WiFi·BLE 전담. 직접 코딩하지 않고 라이브러리로 명령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99632" y="3630168"/>
            <a:ext cx="2395728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55080" y="3794760"/>
            <a:ext cx="146304" cy="146304"/>
          </a:xfrm>
          <a:prstGeom prst="ellipse">
            <a:avLst/>
          </a:prstGeom>
          <a:solidFill>
            <a:srgbClr val="0F2A38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721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WiFiS3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55080" y="4014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칩 사이 내부 시리얼 통신을 감싸주는 핵심 라이브러리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0 · BOARD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둘러보기</a:t>
            </a:r>
            <a:endParaRPr lang="en-US" sz="3000" dirty="0"/>
          </a:p>
        </p:txBody>
      </p:sp>
      <p:pic>
        <p:nvPicPr>
          <p:cNvPr id="4" name="Image 0" descr="images/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863840" cy="2953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12×8 LED 매트릭스와 Qwiic 커넥터는 R4 WiFi에서 새로 추가된 부분입니다. 매트릭스는 별도 배선 없이 바로 그래픽 실습이 가능합니다.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0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 4단계 셋업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83664" cy="192024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1892808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047" y="2070567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5376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26426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패키지 설치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9900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매니저에서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'Arduino UNO R4 Boards' 설치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50592" y="2578608"/>
            <a:ext cx="146304" cy="146304"/>
          </a:xfrm>
          <a:prstGeom prst="rtTriangle">
            <a:avLst/>
          </a:prstGeom>
          <a:solidFill>
            <a:srgbClr val="00878F"/>
          </a:solidFill>
          <a:ln/>
        </p:spPr>
      </p:sp>
      <p:sp>
        <p:nvSpPr>
          <p:cNvPr id="11" name="Shape 8"/>
          <p:cNvSpPr/>
          <p:nvPr/>
        </p:nvSpPr>
        <p:spPr>
          <a:xfrm>
            <a:off x="2615184" y="1691640"/>
            <a:ext cx="1883664" cy="192024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892808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591" y="2070567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706624" y="26426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연결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24912" y="29900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USB-C 케이블 연결 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포트(COM) 인식 확인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17136" y="2578608"/>
            <a:ext cx="146304" cy="146304"/>
          </a:xfrm>
          <a:prstGeom prst="rtTriangle">
            <a:avLst/>
          </a:prstGeom>
          <a:solidFill>
            <a:srgbClr val="00878F"/>
          </a:solidFill>
          <a:ln/>
        </p:spPr>
      </p:sp>
      <p:sp>
        <p:nvSpPr>
          <p:cNvPr id="18" name="Shape 14"/>
          <p:cNvSpPr/>
          <p:nvPr/>
        </p:nvSpPr>
        <p:spPr>
          <a:xfrm>
            <a:off x="4681728" y="1691640"/>
            <a:ext cx="1883664" cy="192024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94376" y="1892808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135" y="2070567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98464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4773168" y="26426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보드/포트 선택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791456" y="29900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메뉴에서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 + 포트 지정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583680" y="2578608"/>
            <a:ext cx="146304" cy="146304"/>
          </a:xfrm>
          <a:prstGeom prst="rtTriangle">
            <a:avLst/>
          </a:prstGeom>
          <a:solidFill>
            <a:srgbClr val="00878F"/>
          </a:solidFill>
          <a:ln/>
        </p:spPr>
      </p:sp>
      <p:sp>
        <p:nvSpPr>
          <p:cNvPr id="25" name="Shape 20"/>
          <p:cNvSpPr/>
          <p:nvPr/>
        </p:nvSpPr>
        <p:spPr>
          <a:xfrm>
            <a:off x="6748272" y="1691640"/>
            <a:ext cx="1883664" cy="192024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60920" y="1892808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679" y="2070567"/>
            <a:ext cx="302849" cy="30284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65008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6839712" y="26426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업로드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858000" y="29900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Blink 예제 업로드로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확인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 </a:t>
            </a:r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온보드 LED가 깜빡이면 환경 구성 성공. 포트가 안 보이면 케이블(데이터 지원)·드라이버를 먼저 점검하세요.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0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매트릭스에 인사하기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0F2A38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67258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B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"ArduinoGraphics.h"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B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"Arduino_LED_Matrix.h"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ArduinoLEDMatrix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matrix.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matrix.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beginText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1, 0xFFFFFF);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matrix.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B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("HI!");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matrix.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endText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(SCROLL_LEFT);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4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흐르는 글자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97880" y="1417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97880" y="1828800"/>
            <a:ext cx="274320" cy="274320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8105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스케치에 코드 입력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2249424"/>
            <a:ext cx="274320" cy="274320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231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보드로 업로드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2670048"/>
            <a:ext cx="274320" cy="274320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651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매트릭스에 'HI!' 흐름 확인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97880" y="3090672"/>
            <a:ext cx="274320" cy="274320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072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글자/색상 바꿔 실험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97880" y="370332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37947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
</a:t>
            </a:r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ledMatrix.loadFrame() 로 나만의 8×12 아이콘을 띄워보세요.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0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0 한 장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999" y="200655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칩 = RA4M1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23113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코드가 도는 32-bit Cortex-M4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1772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828800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079" y="2006559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 = ESP32-S3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0" y="223113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WiFiS3 라이브러리로 다룸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383280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99" y="3561039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LED 매트릭스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37856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없이 그래픽 출력 가능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17720" y="31089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383280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079" y="356103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4단계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69280" y="37856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패키지→연결→선택→업로드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46451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모듈 →  </a:t>
            </a:r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1에서 드디어 WiFi에 접속합니다 (STA 모드).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743200"/>
            <a:ext cx="4023360" cy="4023360"/>
          </a:xfrm>
          <a:prstGeom prst="ellipse">
            <a:avLst/>
          </a:prstGeom>
          <a:solidFill>
            <a:srgbClr val="1338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B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 연결 기초 — STA 모드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8368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공유기에 접속하고, 연결 상태와 신호 세기를 다루며, 주변 네트워크를 스캔합니다.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모듈에서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82496"/>
            <a:ext cx="457200" cy="457200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805940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27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공유기 접속(STA)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840480" y="16276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WiFi.begin()으로 네트워크에 연결할 수 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523744"/>
            <a:ext cx="457200" cy="457200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6471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68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상태 관리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840480" y="24688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WiFi.status() 값을 읽고 재시도를 처리할 수 있다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36976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364992"/>
            <a:ext cx="457200" cy="457200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48843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310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정보 활용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3840480" y="33101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IP·MAC·RSSI(신호세기)를 읽어 활용할 수 있다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078224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206240"/>
            <a:ext cx="457200" cy="457200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432968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1513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WiFi 스캔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3840480" y="41513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scanNetworks()로 AP 목록을 표시할 수 있다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 동작 모드: STA vs AP</a:t>
            </a:r>
            <a:endParaRPr lang="en-US" sz="3000" dirty="0"/>
          </a:p>
        </p:txBody>
      </p:sp>
      <p:pic>
        <p:nvPicPr>
          <p:cNvPr id="4" name="Image 0" descr="images/wifi_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7955280" cy="3054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모듈은 STA 모드  </a:t>
            </a:r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익숙한 인터넷 환경에 보드를 합류시킵니다. AP 모드는 모듈 3에서 다룹니다.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흐름과 상태 점검</a:t>
            </a:r>
            <a:endParaRPr lang="en-US" sz="3000" dirty="0"/>
          </a:p>
        </p:txBody>
      </p:sp>
      <p:pic>
        <p:nvPicPr>
          <p:cNvPr id="4" name="Image 0" descr="images/sta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8638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— 연결과 상태 확인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0F2A38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8097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B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"WiFiS3.h"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ssid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B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"MyWiFi"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=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B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"********"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(115200);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WiFi.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(ssid, pass);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(WiFi.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!= WL_CONNECTED) {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(500); Serial.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(".");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(WiFi.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localIP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0" y="141732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08192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status() 폴링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08192" y="1801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연결될 때까지 반복 확인하는 비차단적 사고가 핵심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251460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08192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localIP()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08192" y="2898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할당받은 IP — 이후 웹서버 주소가 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611880"/>
            <a:ext cx="26517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08192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보안 주의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08192" y="3995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별도 파일로 분리하는 습관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세기(RSSI) 읽기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거리가 멀수록 RSSI는 0에서 음의 방향으로 커집니다 (0에 가까울수록 강함).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989320" y="1463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RSSI 해석 가이드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89320" y="187452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44768" y="2066544"/>
            <a:ext cx="182880" cy="182880"/>
          </a:xfrm>
          <a:prstGeom prst="ellipse">
            <a:avLst/>
          </a:prstGeom>
          <a:solidFill>
            <a:srgbClr val="2FB7A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-30 ~ -50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6092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매우 강함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253288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44768" y="2724912"/>
            <a:ext cx="182880" cy="182880"/>
          </a:xfrm>
          <a:prstGeom prst="ellipse">
            <a:avLst/>
          </a:prstGeom>
          <a:solidFill>
            <a:srgbClr val="00878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-50 ~ -67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60920" y="25786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 (권장)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89320" y="3191256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44768" y="3383280"/>
            <a:ext cx="182880" cy="182880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-67 ~ -80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60920" y="32369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약함 — 불안정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89320" y="3849624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44768" y="4041648"/>
            <a:ext cx="182880" cy="182880"/>
          </a:xfrm>
          <a:prstGeom prst="ellipse">
            <a:avLst/>
          </a:prstGeom>
          <a:solidFill>
            <a:srgbClr val="B86E18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8953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-80 이하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60920" y="38953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곤란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WiFi 스캐너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0F2A38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67258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WiFi.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scanNetworks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 Serial.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4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("개 발견");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7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 = 0; i &lt; n; i++) {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(WiFi.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SSID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  ");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(WiFi.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RSSI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B7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 dBm");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9788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시리얼 출력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1755648"/>
            <a:ext cx="2697480" cy="1554480"/>
          </a:xfrm>
          <a:prstGeom prst="roundRect">
            <a:avLst>
              <a:gd name="adj" fmla="val 4118"/>
            </a:avLst>
          </a:prstGeom>
          <a:solidFill>
            <a:srgbClr val="11202A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53328" y="1865376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4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3개 발견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MyWiFi      -52 dBm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Office_5G   -71 dBm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Cafe_Free   -85 dBm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97880" y="3456432"/>
            <a:ext cx="2697480" cy="1161288"/>
          </a:xfrm>
          <a:prstGeom prst="roundRect">
            <a:avLst>
              <a:gd name="adj" fmla="val 5512"/>
            </a:avLst>
          </a:prstGeom>
          <a:solidFill>
            <a:srgbClr val="FBEEDD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E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미션
</a:t>
            </a:r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강한 AP를 찾아 매트릭스에 RSSI를 막대그래프로 표시해보세요.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1 정리 &amp; 다음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999" y="200655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 연결 완성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23113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WiFi.begin → status 폴링 → 연결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828800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079" y="2006559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활용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0" y="223113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localIP·RSSI를 읽어 상태 파악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6DB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383280"/>
            <a:ext cx="658368" cy="658368"/>
          </a:xfrm>
          <a:prstGeom prst="ellipse">
            <a:avLst/>
          </a:prstGeom>
          <a:solidFill>
            <a:srgbClr val="E6F3F4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99" y="3561039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스캐너 실습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37856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AP 목록과 신호 비교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17720" y="31089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6F3F4"/>
          </a:solidFill>
          <a:ln w="19050">
            <a:solidFill>
              <a:srgbClr val="00878F"/>
            </a:solidFill>
            <a:prstDash val="solid"/>
          </a:ln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383280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A4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079" y="356103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웹서버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69280" y="37856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브라우저로 보드를 제어 (모듈 2)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UNO R4 WiFi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 R4 WiFi 강의 — 모듈 0~1</dc:title>
  <dc:subject>PptxGenJS Presentation</dc:subject>
  <dc:creator>Arduino Course</dc:creator>
  <cp:lastModifiedBy>Arduino Course</cp:lastModifiedBy>
  <cp:revision>1</cp:revision>
  <dcterms:created xsi:type="dcterms:W3CDTF">2026-06-21T03:56:00Z</dcterms:created>
  <dcterms:modified xsi:type="dcterms:W3CDTF">2026-06-21T03:56:00Z</dcterms:modified>
</cp:coreProperties>
</file>